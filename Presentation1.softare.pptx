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42"/>
    <p:restoredTop sz="94588"/>
  </p:normalViewPr>
  <p:slideViewPr>
    <p:cSldViewPr snapToGrid="0">
      <p:cViewPr varScale="1">
        <p:scale>
          <a:sx n="110" d="100"/>
          <a:sy n="110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650212.3680323" TargetMode="External"/><Relationship Id="rId7" Type="http://schemas.openxmlformats.org/officeDocument/2006/relationships/hyperlink" Target="https://doi.org/10.1016/j.infsof.2025.107751" TargetMode="External"/><Relationship Id="rId2" Type="http://schemas.openxmlformats.org/officeDocument/2006/relationships/hyperlink" Target="https://doi.org/10.1145/374758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10.02059" TargetMode="External"/><Relationship Id="rId5" Type="http://schemas.openxmlformats.org/officeDocument/2006/relationships/hyperlink" Target="https://doi.org/10.1145/3716848" TargetMode="External"/><Relationship Id="rId4" Type="http://schemas.openxmlformats.org/officeDocument/2006/relationships/hyperlink" Target="https://doi.org/10.1145/366078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67F9-F4B5-6E5D-E66E-B2B9EDFE6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Artificial Intelligence in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3BB92-7DAE-E8C2-82F9-675DAE3CEE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By: Abishek Kumar Giri</a:t>
            </a:r>
          </a:p>
        </p:txBody>
      </p:sp>
    </p:spTree>
    <p:extLst>
      <p:ext uri="{BB962C8B-B14F-4D97-AF65-F5344CB8AC3E}">
        <p14:creationId xmlns:p14="http://schemas.microsoft.com/office/powerpoint/2010/main" val="96373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EC41-AEF7-6C89-D2AB-C844466D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3" y="609600"/>
            <a:ext cx="10689904" cy="1456267"/>
          </a:xfrm>
        </p:spPr>
        <p:txBody>
          <a:bodyPr/>
          <a:lstStyle/>
          <a:p>
            <a:r>
              <a:rPr lang="en-US" dirty="0"/>
              <a:t>Introduction and Research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5EF9-1DE3-D11C-3896-8B74B082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3" y="1721223"/>
            <a:ext cx="10584144" cy="496644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Artificial Intelligence (AI) has transitioned from a theoretical concept to a </a:t>
            </a:r>
            <a:r>
              <a:rPr lang="en-US" sz="2400" i="1" dirty="0"/>
              <a:t>central force</a:t>
            </a:r>
            <a:r>
              <a:rPr lang="en-US" sz="2400" dirty="0"/>
              <a:t> in software engineering.</a:t>
            </a:r>
          </a:p>
          <a:p>
            <a:pPr marL="0" indent="0">
              <a:buNone/>
            </a:pPr>
            <a:r>
              <a:rPr lang="en-US" sz="2400" dirty="0"/>
              <a:t>Modern software development increasingly relies on LLMs and deep learning for code generation, debugging, testing, and comprehension.</a:t>
            </a:r>
          </a:p>
          <a:p>
            <a:pPr marL="0" indent="0">
              <a:buNone/>
            </a:pPr>
            <a:r>
              <a:rPr lang="en-US" sz="2400" dirty="0"/>
              <a:t>However, these capabilities introduce critical concerns involving trust, bias, security, and human oversight.</a:t>
            </a:r>
          </a:p>
          <a:p>
            <a:pPr marL="0" indent="0">
              <a:buNone/>
            </a:pPr>
            <a:r>
              <a:rPr lang="en-US" sz="2400" dirty="0"/>
              <a:t>As an aspiring software engineer, this research addresses both the technical opportunities and the ethical responsibilities associated with AI-assisted development.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0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91D2-0368-E246-64E6-53D24D78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Five Core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4177-BEF7-900B-5317-4F162C422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presentation synthesizes insights from five influential studies examining AI in software engineering</a:t>
            </a:r>
          </a:p>
          <a:p>
            <a:pPr marL="0" indent="0">
              <a:buNone/>
            </a:pPr>
            <a:r>
              <a:rPr lang="en-US" dirty="0"/>
              <a:t>	LLMs for Code Generation — Jiang et al. (2025)</a:t>
            </a:r>
          </a:p>
          <a:p>
            <a:pPr marL="0" indent="0">
              <a:buNone/>
            </a:pPr>
            <a:r>
              <a:rPr lang="en-US" dirty="0"/>
              <a:t>	Conversational Program Repair — Xia &amp; Zhang (2024)</a:t>
            </a:r>
          </a:p>
          <a:p>
            <a:pPr marL="0" indent="0">
              <a:buNone/>
            </a:pPr>
            <a:r>
              <a:rPr lang="en-US" dirty="0"/>
              <a:t>	Unit Test Generation — Yuan et al. (2024)</a:t>
            </a:r>
          </a:p>
          <a:p>
            <a:pPr marL="0" indent="0">
              <a:buNone/>
            </a:pPr>
            <a:r>
              <a:rPr lang="en-US" dirty="0"/>
              <a:t>	Security Weaknesses in Copilot Code — Fu et al. (2025)</a:t>
            </a:r>
          </a:p>
          <a:p>
            <a:pPr marL="0" indent="0">
              <a:buNone/>
            </a:pPr>
            <a:r>
              <a:rPr lang="en-US" dirty="0"/>
              <a:t>	Sociotechnical Transformation via GenAI — Banh et al. (2025)</a:t>
            </a:r>
          </a:p>
          <a:p>
            <a:pPr marL="0" indent="0">
              <a:buNone/>
            </a:pPr>
            <a:r>
              <a:rPr lang="en-US" dirty="0"/>
              <a:t>Together, they offer a multi dimensional understanding of AI’s impact across coding, testing, maintenance, and organizational workflows. </a:t>
            </a:r>
          </a:p>
        </p:txBody>
      </p:sp>
    </p:spTree>
    <p:extLst>
      <p:ext uri="{BB962C8B-B14F-4D97-AF65-F5344CB8AC3E}">
        <p14:creationId xmlns:p14="http://schemas.microsoft.com/office/powerpoint/2010/main" val="5184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1DA8-ACA0-4E3A-155E-CFB1B4A4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Code Generation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06CF-F83A-EE99-AD53-9B0C7044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Models like Codex, </a:t>
            </a:r>
            <a:r>
              <a:rPr lang="en-US" dirty="0" err="1"/>
              <a:t>AlphaCode</a:t>
            </a:r>
            <a:r>
              <a:rPr lang="en-US" dirty="0"/>
              <a:t>, and CodeT5 exceed traditional ML approaches in syntactic and functional accuracy.</a:t>
            </a:r>
          </a:p>
          <a:p>
            <a:pPr marL="0" indent="0">
              <a:buNone/>
            </a:pPr>
            <a:r>
              <a:rPr lang="en-US" dirty="0"/>
              <a:t>	LLM capabilities categorized into:</a:t>
            </a:r>
          </a:p>
          <a:p>
            <a:pPr marL="457200" lvl="1" indent="0">
              <a:buNone/>
            </a:pPr>
            <a:r>
              <a:rPr lang="en-US" dirty="0"/>
              <a:t>	Code Synthesis</a:t>
            </a:r>
          </a:p>
          <a:p>
            <a:pPr marL="457200" lvl="1" indent="0">
              <a:buNone/>
            </a:pPr>
            <a:r>
              <a:rPr lang="en-US" dirty="0"/>
              <a:t>	Bug Detection and Repair</a:t>
            </a:r>
          </a:p>
          <a:p>
            <a:pPr marL="457200" lvl="1" indent="0">
              <a:buNone/>
            </a:pPr>
            <a:r>
              <a:rPr lang="en-US" dirty="0"/>
              <a:t>	Program Understanding</a:t>
            </a:r>
          </a:p>
          <a:p>
            <a:pPr marL="457200" lvl="1" indent="0">
              <a:buNone/>
            </a:pPr>
            <a:r>
              <a:rPr lang="en-US" dirty="0"/>
              <a:t>Critical Limitations:</a:t>
            </a:r>
          </a:p>
          <a:p>
            <a:pPr marL="457200" lvl="1" indent="0">
              <a:buNone/>
            </a:pPr>
            <a:r>
              <a:rPr lang="en-US" i="1" dirty="0"/>
              <a:t>	Semantic drift</a:t>
            </a:r>
            <a:r>
              <a:rPr lang="en-US" dirty="0"/>
              <a:t> where syntactically correct code fails logical/functional requirements.</a:t>
            </a:r>
          </a:p>
          <a:p>
            <a:pPr marL="457200" lvl="1" indent="0">
              <a:buNone/>
            </a:pPr>
            <a:r>
              <a:rPr lang="en-US" dirty="0"/>
              <a:t>	Training data concerns- copyright, low quality examples, and embedded insecure patterns.</a:t>
            </a:r>
          </a:p>
          <a:p>
            <a:pPr marL="457200" lvl="1" indent="0">
              <a:buNone/>
            </a:pPr>
            <a:r>
              <a:rPr lang="en-US" dirty="0"/>
              <a:t>	LLMs operate as “black boxes,” limiting transparency and developer trust. </a:t>
            </a:r>
          </a:p>
        </p:txBody>
      </p:sp>
    </p:spTree>
    <p:extLst>
      <p:ext uri="{BB962C8B-B14F-4D97-AF65-F5344CB8AC3E}">
        <p14:creationId xmlns:p14="http://schemas.microsoft.com/office/powerpoint/2010/main" val="410683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28D5-EB82-6DBD-A265-57D99368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LLM Code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6A7E1-9AE5-B709-1A57-6F14D19C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Strengths</a:t>
            </a:r>
          </a:p>
          <a:p>
            <a:pPr marL="0" indent="0">
              <a:buNone/>
            </a:pPr>
            <a:r>
              <a:rPr lang="en-US" sz="1600" dirty="0"/>
              <a:t>	Accelerates prototyping and exploration</a:t>
            </a:r>
            <a:br>
              <a:rPr lang="en-US" sz="1600" dirty="0"/>
            </a:br>
            <a:r>
              <a:rPr lang="en-US" sz="1600" dirty="0"/>
              <a:t>	Reduces cognitive and manual burden on developers</a:t>
            </a:r>
            <a:br>
              <a:rPr lang="en-US" sz="1600" dirty="0"/>
            </a:br>
            <a:r>
              <a:rPr lang="en-US" sz="1600" dirty="0"/>
              <a:t>	Supports learning through example-based outputs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br>
              <a:rPr lang="en-US" sz="1600" dirty="0"/>
            </a:br>
            <a:r>
              <a:rPr lang="en-US" sz="1600" dirty="0"/>
              <a:t>Risks and Challenges</a:t>
            </a:r>
            <a:br>
              <a:rPr lang="en-US" sz="1600" dirty="0"/>
            </a:br>
            <a:r>
              <a:rPr lang="en-US" sz="1600" dirty="0"/>
              <a:t>	AI generated code may contain logic errors, inefficiencies, or security flaws.</a:t>
            </a:r>
            <a:br>
              <a:rPr lang="en-US" sz="1600" dirty="0"/>
            </a:br>
            <a:r>
              <a:rPr lang="en-US" sz="1600" dirty="0"/>
              <a:t>	Ethical issues: data provenance, copyright violation, and opaque reasoning processes.</a:t>
            </a:r>
            <a:br>
              <a:rPr lang="en-US" sz="1600" dirty="0"/>
            </a:br>
            <a:r>
              <a:rPr lang="en-US" sz="1600" dirty="0"/>
              <a:t>	Necessitates improved benchmarking, security metrics, and interpretability tools.</a:t>
            </a:r>
          </a:p>
          <a:p>
            <a:pPr marL="0" indent="0">
              <a:buNone/>
            </a:pPr>
            <a:br>
              <a:rPr lang="en-US" sz="1600" dirty="0"/>
            </a:br>
            <a:r>
              <a:rPr lang="en-US" sz="1600" dirty="0"/>
              <a:t>High Level Insight:</a:t>
            </a:r>
            <a:br>
              <a:rPr lang="en-US" sz="1600" dirty="0"/>
            </a:br>
            <a:r>
              <a:rPr lang="en-US" sz="1600" dirty="0"/>
              <a:t>	AI shifts the developer’s role from code writer to supervisor, responsible for validation and intent alignment.</a:t>
            </a:r>
          </a:p>
          <a:p>
            <a:pPr marL="0" indent="0">
              <a:buNone/>
            </a:pP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1576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EEDF-6AD0-9FCB-34C3-0C23FFD9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Program Repair via Conversation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4ECB8-884A-F5FE-756D-2F1BBB2F0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Chat Repair system used ChatGPT to repair 162/337 bugs from Defects4J,an impressive 48% success rate.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Average cost per repair: $0.42, demonstrating extremely low overhead.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Iterative conversational feedback allows AI to refine solutions based on test failures.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AI sometimes addresses superficial symptoms, not underlying causes.</a:t>
            </a:r>
            <a:br>
              <a:rPr lang="en-US" dirty="0"/>
            </a:br>
            <a:r>
              <a:rPr lang="en-US" dirty="0"/>
              <a:t>	Poor test coverage can result in “false-positive” fixes that pass tests but remain logically incorrect.</a:t>
            </a:r>
            <a:br>
              <a:rPr lang="en-US" dirty="0"/>
            </a:br>
            <a:r>
              <a:rPr lang="en-US" dirty="0"/>
              <a:t>	Reinforces the need for strong human validation.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1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113B-4A6D-9BFC-C1E4-6495830B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AI Collaboration in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F9DA3-9251-CF84-8380-4770007B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AI can automate repetitive debugging tasks but cannot replace human understanding of architecture, requirements, and long term design implications.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Recommended workflow:</a:t>
            </a:r>
            <a:br>
              <a:rPr lang="en-US" dirty="0"/>
            </a:br>
            <a:r>
              <a:rPr lang="en-US" dirty="0"/>
              <a:t>	AI performs initial triage and generates patches</a:t>
            </a:r>
            <a:br>
              <a:rPr lang="en-US" dirty="0"/>
            </a:br>
            <a:r>
              <a:rPr lang="en-US" dirty="0"/>
              <a:t>	Human engineers conduct reviews, evaluate side effects, and approve integration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Effective systems integrate AI tools into CI/CD pipelines with safeguards.</a:t>
            </a:r>
          </a:p>
          <a:p>
            <a:pPr marL="0" indent="0">
              <a:buNone/>
            </a:pPr>
            <a:r>
              <a:rPr lang="en-US" dirty="0"/>
              <a:t>Key concept: “Trust but verify.”</a:t>
            </a:r>
          </a:p>
        </p:txBody>
      </p:sp>
    </p:spTree>
    <p:extLst>
      <p:ext uri="{BB962C8B-B14F-4D97-AF65-F5344CB8AC3E}">
        <p14:creationId xmlns:p14="http://schemas.microsoft.com/office/powerpoint/2010/main" val="4073990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3A6E-59D2-D4F6-F63D-22A1EFED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 Generation with 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39A2-5B8A-42FB-BEFF-6FF14D8ED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ChatGPT generated tests are often readable and structurally similar to human-written ones.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However</a:t>
            </a:r>
          </a:p>
          <a:p>
            <a:pPr marL="0" indent="0">
              <a:buNone/>
            </a:pPr>
            <a:r>
              <a:rPr lang="en-US" dirty="0"/>
              <a:t>	Many initial tests do not compile</a:t>
            </a:r>
            <a:br>
              <a:rPr lang="en-US" dirty="0"/>
            </a:br>
            <a:r>
              <a:rPr lang="en-US" dirty="0"/>
              <a:t>           Incorrect assertions and API misuse are frequent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ChatTester</a:t>
            </a:r>
            <a:r>
              <a:rPr lang="en-US" dirty="0"/>
              <a:t> framework improves reliability through iterative refinement:</a:t>
            </a:r>
            <a:br>
              <a:rPr lang="en-US" dirty="0"/>
            </a:br>
            <a:r>
              <a:rPr lang="en-US" dirty="0"/>
              <a:t>	34.3% increase in </a:t>
            </a:r>
            <a:r>
              <a:rPr lang="en-US" dirty="0" err="1"/>
              <a:t>compilable</a:t>
            </a:r>
            <a:r>
              <a:rPr lang="en-US" dirty="0"/>
              <a:t> tests</a:t>
            </a:r>
            <a:br>
              <a:rPr lang="en-US" dirty="0"/>
            </a:br>
            <a:r>
              <a:rPr lang="en-US" dirty="0"/>
              <a:t>	18.7% improvement in correctness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Core Insight:</a:t>
            </a:r>
            <a:br>
              <a:rPr lang="en-US" dirty="0"/>
            </a:br>
            <a:r>
              <a:rPr lang="en-US" dirty="0"/>
              <a:t>	AI can accelerate test creation but demands continuous human supervision to ensure validity.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07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E8FF-9C66-D307-4A54-70C5D371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Weaknesses in Copilot Generated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85E62-2FE7-5CBA-438A-018B5875A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Evaluation of 452 Copilot generated code snippets revealed:</a:t>
            </a:r>
            <a:br>
              <a:rPr lang="en-US" dirty="0"/>
            </a:br>
            <a:r>
              <a:rPr lang="en-US" dirty="0"/>
              <a:t>	30% contained at least one security vulnerability</a:t>
            </a:r>
          </a:p>
          <a:p>
            <a:pPr marL="0" indent="0">
              <a:buNone/>
            </a:pPr>
            <a:r>
              <a:rPr lang="en-US" dirty="0"/>
              <a:t>Common issues aligned with CWE Top 25 risks:</a:t>
            </a:r>
            <a:br>
              <a:rPr lang="en-US" dirty="0"/>
            </a:br>
            <a:r>
              <a:rPr lang="en-US" dirty="0"/>
              <a:t>	Hardcoded secrets</a:t>
            </a:r>
            <a:br>
              <a:rPr lang="en-US" dirty="0"/>
            </a:br>
            <a:r>
              <a:rPr lang="en-US" dirty="0"/>
              <a:t>	Insecure randomness</a:t>
            </a:r>
            <a:br>
              <a:rPr lang="en-US" dirty="0"/>
            </a:br>
            <a:r>
              <a:rPr lang="en-US" dirty="0"/>
              <a:t>	Input validation failures</a:t>
            </a:r>
            <a:br>
              <a:rPr lang="en-US" dirty="0"/>
            </a:br>
            <a:r>
              <a:rPr lang="en-US" dirty="0"/>
              <a:t>	Missing authentication/authorization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Cause: AI replicates unsafe patterns from its training data and lacks contextual awareness of sensitive data.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Major Warning:</a:t>
            </a:r>
            <a:br>
              <a:rPr lang="en-US" dirty="0"/>
            </a:br>
            <a:r>
              <a:rPr lang="en-US" dirty="0"/>
              <a:t>	Productivity gains must not overshadow security risks; AI code cannot be blindly trusted.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0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97F8-E852-FA60-1014-630EDF5D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Adoption of GenAI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06ED1-F79B-E0C7-97EA-84EC6D5DD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Opportunities:</a:t>
            </a:r>
            <a:br>
              <a:rPr lang="en-US" sz="1600" dirty="0"/>
            </a:br>
            <a:r>
              <a:rPr lang="en-US" sz="1600" dirty="0"/>
              <a:t>	Enhanced productivity</a:t>
            </a:r>
            <a:br>
              <a:rPr lang="en-US" sz="1600" dirty="0"/>
            </a:br>
            <a:r>
              <a:rPr lang="en-US" sz="1600" dirty="0"/>
              <a:t>	Faster prototyping</a:t>
            </a:r>
            <a:br>
              <a:rPr lang="en-US" sz="1600" dirty="0"/>
            </a:br>
            <a:r>
              <a:rPr lang="en-US" sz="1600" dirty="0"/>
              <a:t>	Increased creative exploration</a:t>
            </a:r>
            <a:br>
              <a:rPr lang="en-US" sz="1600" dirty="0"/>
            </a:br>
            <a:r>
              <a:rPr lang="en-US" sz="1600" dirty="0"/>
              <a:t>	Reduced repetitive workload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Barriers:</a:t>
            </a:r>
            <a:br>
              <a:rPr lang="en-US" sz="1600" dirty="0"/>
            </a:br>
            <a:r>
              <a:rPr lang="en-US" sz="1600" dirty="0"/>
              <a:t>	Low trust in AI outputs</a:t>
            </a:r>
            <a:br>
              <a:rPr lang="en-US" sz="1600" dirty="0"/>
            </a:br>
            <a:r>
              <a:rPr lang="en-US" sz="1600" dirty="0"/>
              <a:t>	Misalignment with existing workflows</a:t>
            </a:r>
            <a:br>
              <a:rPr lang="en-US" sz="1600" dirty="0"/>
            </a:br>
            <a:r>
              <a:rPr lang="en-US" sz="1600" dirty="0"/>
              <a:t>	Skill gaps and resistance among developers</a:t>
            </a:r>
            <a:br>
              <a:rPr lang="en-US" sz="1600" dirty="0"/>
            </a:br>
            <a:r>
              <a:rPr lang="en-US" sz="1600" dirty="0"/>
              <a:t>	Ethical ambiguity about authorship and accountability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Framework Recommendation:</a:t>
            </a:r>
            <a:br>
              <a:rPr lang="en-US" sz="1600" dirty="0"/>
            </a:br>
            <a:r>
              <a:rPr lang="en-US" sz="1600" dirty="0"/>
              <a:t>	Organizations must adopt structured policies, training programs, and transparent guidelines to integrate AI 	responsibly.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57301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F83D-9D9B-09CA-50D7-37C0516E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Opportunities and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01568-9D1C-DC55-F2A8-B18D25140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Opportunities</a:t>
            </a:r>
          </a:p>
          <a:p>
            <a:pPr marL="0" indent="0">
              <a:buNone/>
            </a:pPr>
            <a:r>
              <a:rPr lang="en-US" dirty="0"/>
              <a:t>	Democratization of software creation</a:t>
            </a:r>
            <a:br>
              <a:rPr lang="en-US" dirty="0"/>
            </a:br>
            <a:r>
              <a:rPr lang="en-US" dirty="0"/>
              <a:t>	Higher-level focus for engineers (architecture, design, innovation)</a:t>
            </a:r>
            <a:br>
              <a:rPr lang="en-US" dirty="0"/>
            </a:br>
            <a:r>
              <a:rPr lang="en-US" dirty="0"/>
              <a:t>	Rapid iteration and experimentation</a:t>
            </a:r>
            <a:br>
              <a:rPr lang="en-US" dirty="0"/>
            </a:br>
            <a:r>
              <a:rPr lang="en-US" dirty="0"/>
              <a:t>	Stronger testing and debugging pipelines with AI augmentation</a:t>
            </a:r>
          </a:p>
          <a:p>
            <a:pPr marL="0" indent="0">
              <a:buNone/>
            </a:pPr>
            <a:r>
              <a:rPr lang="en-US" dirty="0"/>
              <a:t>Risks</a:t>
            </a:r>
          </a:p>
          <a:p>
            <a:pPr marL="0" indent="0">
              <a:buNone/>
            </a:pPr>
            <a:r>
              <a:rPr lang="en-US" dirty="0"/>
              <a:t>	Security vulnerabilities entering production systems</a:t>
            </a:r>
            <a:br>
              <a:rPr lang="en-US" dirty="0"/>
            </a:br>
            <a:r>
              <a:rPr lang="en-US" dirty="0"/>
              <a:t>	Over reliance reducing core engineering skills</a:t>
            </a:r>
            <a:br>
              <a:rPr lang="en-US" dirty="0"/>
            </a:br>
            <a:r>
              <a:rPr lang="en-US" dirty="0"/>
              <a:t>	Ethical issues involving transparency, data integrity, and accountability</a:t>
            </a:r>
            <a:br>
              <a:rPr lang="en-US" dirty="0"/>
            </a:br>
            <a:r>
              <a:rPr lang="en-US" dirty="0"/>
              <a:t>	Potential socioeconomic impacts: job displacement, skill shifts, inequitable access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AI must be paired with robust validation, policy frameworks, and human oversight to ensure safe adoption.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37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5C30-CF84-95D3-B21F-2005405E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7FD0-4FE0-39A4-8AEE-2EF193C3C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750" dirty="0"/>
              <a:t>AI represents a transformative but double edged advancement in software engineering.</a:t>
            </a:r>
            <a:br>
              <a:rPr lang="en-US" sz="1750" dirty="0"/>
            </a:br>
            <a:br>
              <a:rPr lang="en-US" sz="1750" dirty="0"/>
            </a:br>
            <a:r>
              <a:rPr lang="en-US" sz="1750" dirty="0"/>
              <a:t>Across studies, AI demonstrates remarkable capabilities in generating code, fixing bugs, and supporting testing.</a:t>
            </a:r>
            <a:br>
              <a:rPr lang="en-US" sz="1750" dirty="0"/>
            </a:br>
            <a:br>
              <a:rPr lang="en-US" sz="1750" dirty="0"/>
            </a:br>
            <a:r>
              <a:rPr lang="en-US" sz="1750" dirty="0"/>
              <a:t>Yet, each study also highlights the need for human centered governance, rigorous review, and ethical standards.</a:t>
            </a:r>
            <a:br>
              <a:rPr lang="en-US" sz="1750" dirty="0"/>
            </a:br>
            <a:br>
              <a:rPr lang="en-US" sz="1750" dirty="0"/>
            </a:br>
            <a:r>
              <a:rPr lang="en-US" sz="1750" dirty="0"/>
              <a:t>True progress lies in human AI collaboration, not replacement.</a:t>
            </a:r>
            <a:br>
              <a:rPr lang="en-US" sz="1750" dirty="0"/>
            </a:br>
            <a:br>
              <a:rPr lang="en-US" sz="1750" dirty="0"/>
            </a:br>
            <a:r>
              <a:rPr lang="en-US" sz="1750" dirty="0"/>
              <a:t>Responsible adoption guided by transparency, security, and oversight will determine whether AI strengthens or destabilizes future software ecosystems.</a:t>
            </a:r>
            <a:br>
              <a:rPr lang="en-US" sz="1750" dirty="0"/>
            </a:br>
            <a:br>
              <a:rPr lang="en-US" sz="1750" dirty="0"/>
            </a:br>
            <a:r>
              <a:rPr lang="en-US" sz="1750" dirty="0"/>
              <a:t>Ultimately, AI is both a technological innovation and a moral challenge, requiring thoughtful integration to ensure societal benefit.</a:t>
            </a:r>
          </a:p>
          <a:p>
            <a:pPr marL="0" indent="0">
              <a:buNone/>
            </a:pPr>
            <a:br>
              <a:rPr lang="en-US" sz="1750" dirty="0"/>
            </a:b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72825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A561-CCCB-DC1D-B5A3-6C1D7C3D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Thank you for your attention. Questions are welcome.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56890-27CD-EEF1-C77F-70944C0CA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757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8A01-A042-3F6A-105A-195560E9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E2F1-92B3-4011-2130-DBC1C0FC0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Jiang, J., Wang, F., Shen, J., Kim, S., &amp; Kim, S. (2025). </a:t>
            </a:r>
            <a:r>
              <a:rPr lang="en-US" i="1" dirty="0"/>
              <a:t>A Survey on Large Language Models for Code Generation</a:t>
            </a:r>
            <a:r>
              <a:rPr lang="en-US" dirty="0"/>
              <a:t>. ACM Transactions on Software Engineering and Methodology (TOSEM). </a:t>
            </a:r>
            <a:r>
              <a:rPr lang="en-US" dirty="0">
                <a:hlinkClick r:id="rId2"/>
              </a:rPr>
              <a:t>https://doi.org/10.1145/3747588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Xia, C. S., &amp; Zhang, L. (2024). </a:t>
            </a:r>
            <a:r>
              <a:rPr lang="en-US" i="1" dirty="0"/>
              <a:t>Automated Program Repair via Conversation: Fixing 162 out of 337 Bugs for $0.42 Each Using ChatGPT</a:t>
            </a:r>
            <a:r>
              <a:rPr lang="en-US" dirty="0"/>
              <a:t>. In </a:t>
            </a:r>
            <a:r>
              <a:rPr lang="en-US" i="1" dirty="0"/>
              <a:t>Proceedings of the 33rd ACM SIGSOFT International Symposium on Software Testing and Analysis (ISSTA ‘24)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https://doi.org/10.1145/3650212.3680323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Yuan, Z., Liu, M., Ding, S., Wang, K., Chen, Y., Peng, X., &amp; Lou, Y. (2024). </a:t>
            </a:r>
            <a:r>
              <a:rPr lang="en-US" i="1" dirty="0"/>
              <a:t>Evaluating and Improving ChatGPT for Unit Test Generation</a:t>
            </a:r>
            <a:r>
              <a:rPr lang="en-US" dirty="0"/>
              <a:t>. In </a:t>
            </a:r>
            <a:r>
              <a:rPr lang="en-US" i="1" dirty="0"/>
              <a:t>Proceedings of the 32nd European Software Engineering Conference and 30th ACM SIGSOFT Symposium on the Foundations of Software Engineering (ESEC/FSE ‘24)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https://doi.org/10.1145/3660783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Fu, Y., Liang, P., Tahir, A., Li, Z., Shahin, M., Yu, J., &amp; Chen, J. (2025). </a:t>
            </a:r>
            <a:r>
              <a:rPr lang="en-US" i="1" dirty="0"/>
              <a:t>Security Weaknesses of Copilot-Generated Code in GitHub Projects: An Empirical Study</a:t>
            </a:r>
            <a:r>
              <a:rPr lang="en-US" dirty="0"/>
              <a:t>. ACM Transactions on Software Engineering and Methodology (TOSEM). </a:t>
            </a:r>
            <a:r>
              <a:rPr lang="en-US" dirty="0">
                <a:hlinkClick r:id="rId5"/>
              </a:rPr>
              <a:t>https://doi.org/10.1145/3716848</a:t>
            </a:r>
            <a:br>
              <a:rPr lang="en-US" dirty="0"/>
            </a:br>
            <a:r>
              <a:rPr lang="en-US" dirty="0"/>
              <a:t>(Preprint available at </a:t>
            </a:r>
            <a:r>
              <a:rPr lang="en-US" dirty="0">
                <a:hlinkClick r:id="rId6"/>
              </a:rPr>
              <a:t>https://arxiv.org/abs/2310.02059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Banh, L., </a:t>
            </a:r>
            <a:r>
              <a:rPr lang="en-US" dirty="0" err="1"/>
              <a:t>Holldack</a:t>
            </a:r>
            <a:r>
              <a:rPr lang="en-US" dirty="0"/>
              <a:t>, F., &amp; Strobel, G. (2025). </a:t>
            </a:r>
            <a:r>
              <a:rPr lang="en-US" i="1" dirty="0"/>
              <a:t>Copiloting the Future: How Generative AI Transforms Software Engineering</a:t>
            </a:r>
            <a:r>
              <a:rPr lang="en-US" dirty="0"/>
              <a:t>. Information and Software Technology, 183, 107751. </a:t>
            </a:r>
            <a:r>
              <a:rPr lang="en-US" dirty="0">
                <a:hlinkClick r:id="rId7"/>
              </a:rPr>
              <a:t>https://doi.org/10.1016/j.infsof.2025.107751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186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47</TotalTime>
  <Words>1360</Words>
  <Application>Microsoft Macintosh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Celestial</vt:lpstr>
      <vt:lpstr>Artificial Intelligence in Software Engineering</vt:lpstr>
      <vt:lpstr>Introduction and Research Motivation</vt:lpstr>
      <vt:lpstr>Overview of the Five Core Studies</vt:lpstr>
      <vt:lpstr>LLMs for Code Generation </vt:lpstr>
      <vt:lpstr>Implications of LLM Code Generation</vt:lpstr>
      <vt:lpstr>Automated Program Repair via Conversation</vt:lpstr>
      <vt:lpstr>Human AI Collaboration in Debugging</vt:lpstr>
      <vt:lpstr>Unit Test Generation with ChatGPT</vt:lpstr>
      <vt:lpstr>Security Weaknesses in Copilot Generated Code</vt:lpstr>
      <vt:lpstr>Organizational Adoption of GenAI Tools</vt:lpstr>
      <vt:lpstr>Broader Opportunities and Risks</vt:lpstr>
      <vt:lpstr>Conclusion</vt:lpstr>
      <vt:lpstr>Thank you for your attention. Questions are welcome.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Abishek Kumar Giri</dc:creator>
  <cp:lastModifiedBy>Abishek Kumar Giri</cp:lastModifiedBy>
  <cp:revision>2</cp:revision>
  <dcterms:created xsi:type="dcterms:W3CDTF">2025-11-19T23:14:25Z</dcterms:created>
  <dcterms:modified xsi:type="dcterms:W3CDTF">2025-11-20T00:03:17Z</dcterms:modified>
</cp:coreProperties>
</file>